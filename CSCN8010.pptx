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3" r:id="rId5"/>
    <p:sldId id="265" r:id="rId6"/>
    <p:sldId id="266" r:id="rId7"/>
    <p:sldId id="267" r:id="rId8"/>
    <p:sldId id="259" r:id="rId9"/>
    <p:sldId id="260" r:id="rId10"/>
    <p:sldId id="264" r:id="rId11"/>
    <p:sldId id="268" r:id="rId12"/>
    <p:sldId id="261" r:id="rId13"/>
    <p:sldId id="262" r:id="rId14"/>
    <p:sldId id="269" r:id="rId15"/>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72" y="-7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8E9EFBF0-5689-49B2-B14D-3D3645DEE4F7}" type="datetimeFigureOut">
              <a:rPr lang="tr-TR" smtClean="0"/>
              <a:t>12.12.2025</a:t>
            </a:fld>
            <a:endParaRPr lang="tr-TR"/>
          </a:p>
        </p:txBody>
      </p:sp>
      <p:sp>
        <p:nvSpPr>
          <p:cNvPr id="17" name="Footer Placeholder 16"/>
          <p:cNvSpPr>
            <a:spLocks noGrp="1"/>
          </p:cNvSpPr>
          <p:nvPr>
            <p:ph type="ftr" sz="quarter" idx="11"/>
          </p:nvPr>
        </p:nvSpPr>
        <p:spPr/>
        <p:txBody>
          <a:bodyPr/>
          <a:lstStyle/>
          <a:p>
            <a:endParaRPr lang="tr-TR"/>
          </a:p>
        </p:txBody>
      </p:sp>
      <p:sp>
        <p:nvSpPr>
          <p:cNvPr id="29" name="Slide Number Placeholder 28"/>
          <p:cNvSpPr>
            <a:spLocks noGrp="1"/>
          </p:cNvSpPr>
          <p:nvPr>
            <p:ph type="sldNum" sz="quarter" idx="12"/>
          </p:nvPr>
        </p:nvSpPr>
        <p:spPr/>
        <p:txBody>
          <a:bodyPr/>
          <a:lstStyle/>
          <a:p>
            <a:fld id="{1E82FFC9-0905-4E6F-ACE5-ADF8EC5DD410}" type="slidenum">
              <a:rPr lang="tr-TR" smtClean="0"/>
              <a:t>‹#›</a:t>
            </a:fld>
            <a:endParaRPr lang="tr-TR"/>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E9EFBF0-5689-49B2-B14D-3D3645DEE4F7}" type="datetimeFigureOut">
              <a:rPr lang="tr-TR" smtClean="0"/>
              <a:t>12.12.2025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1E82FFC9-0905-4E6F-ACE5-ADF8EC5DD410}" type="slidenum">
              <a:rPr lang="tr-TR" smtClean="0"/>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8E9EFBF0-5689-49B2-B14D-3D3645DEE4F7}" type="datetimeFigureOut">
              <a:rPr lang="tr-TR" smtClean="0"/>
              <a:t>12.12.2025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a:xfrm>
            <a:off x="7924800" y="6416675"/>
            <a:ext cx="762000" cy="365125"/>
          </a:xfrm>
        </p:spPr>
        <p:txBody>
          <a:bodyPr/>
          <a:lstStyle/>
          <a:p>
            <a:fld id="{1E82FFC9-0905-4E6F-ACE5-ADF8EC5DD410}" type="slidenum">
              <a:rPr lang="tr-TR" smtClean="0"/>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E9EFBF0-5689-49B2-B14D-3D3645DEE4F7}" type="datetimeFigureOut">
              <a:rPr lang="tr-TR" smtClean="0"/>
              <a:t>12.12.2025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1E82FFC9-0905-4E6F-ACE5-ADF8EC5DD410}" type="slidenum">
              <a:rPr lang="tr-TR" smtClean="0"/>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8E9EFBF0-5689-49B2-B14D-3D3645DEE4F7}" type="datetimeFigureOut">
              <a:rPr lang="tr-TR" smtClean="0"/>
              <a:t>12.12.2025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1E82FFC9-0905-4E6F-ACE5-ADF8EC5DD410}" type="slidenum">
              <a:rPr lang="tr-TR" smtClean="0"/>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8E9EFBF0-5689-49B2-B14D-3D3645DEE4F7}" type="datetimeFigureOut">
              <a:rPr lang="tr-TR" smtClean="0"/>
              <a:t>12.12.2025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1E82FFC9-0905-4E6F-ACE5-ADF8EC5DD410}" type="slidenum">
              <a:rPr lang="tr-TR" smtClean="0"/>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9EFBF0-5689-49B2-B14D-3D3645DEE4F7}" type="datetimeFigureOut">
              <a:rPr lang="tr-TR" smtClean="0"/>
              <a:t>12.12.2025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1E82FFC9-0905-4E6F-ACE5-ADF8EC5DD410}"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E9EFBF0-5689-49B2-B14D-3D3645DEE4F7}" type="datetimeFigureOut">
              <a:rPr lang="tr-TR" smtClean="0"/>
              <a:t>12.12.2025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1E82FFC9-0905-4E6F-ACE5-ADF8EC5DD410}" type="slidenum">
              <a:rPr lang="tr-TR" smtClean="0"/>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E9EFBF0-5689-49B2-B14D-3D3645DEE4F7}" type="datetimeFigureOut">
              <a:rPr lang="tr-TR" smtClean="0"/>
              <a:t>12.12.2025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1E82FFC9-0905-4E6F-ACE5-ADF8EC5DD410}" type="slidenum">
              <a:rPr lang="tr-TR" smtClean="0"/>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E9EFBF0-5689-49B2-B14D-3D3645DEE4F7}" type="datetimeFigureOut">
              <a:rPr lang="tr-TR" smtClean="0"/>
              <a:t>12.12.2025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1E82FFC9-0905-4E6F-ACE5-ADF8EC5DD410}"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E9EFBF0-5689-49B2-B14D-3D3645DEE4F7}" type="datetimeFigureOut">
              <a:rPr lang="tr-TR" smtClean="0"/>
              <a:t>12.12.2025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1E82FFC9-0905-4E6F-ACE5-ADF8EC5DD410}"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8E9EFBF0-5689-49B2-B14D-3D3645DEE4F7}" type="datetimeFigureOut">
              <a:rPr lang="tr-TR" smtClean="0"/>
              <a:t>12.12.2025</a:t>
            </a:fld>
            <a:endParaRPr lang="tr-TR"/>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tr-TR"/>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1E82FFC9-0905-4E6F-ACE5-ADF8EC5DD410}" type="slidenum">
              <a:rPr lang="tr-TR" smtClean="0"/>
              <a:t>‹#›</a:t>
            </a:fld>
            <a:endParaRPr lang="tr-TR"/>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512" y="1340768"/>
            <a:ext cx="8229600" cy="1828800"/>
          </a:xfrm>
        </p:spPr>
        <p:txBody>
          <a:bodyPr>
            <a:normAutofit fontScale="90000"/>
          </a:bodyPr>
          <a:lstStyle/>
          <a:p>
            <a:r>
              <a:rPr lang="tr-TR" sz="3600" b="0" dirty="0" smtClean="0">
                <a:effectLst>
                  <a:outerShdw blurRad="38100" dist="38100" dir="2700000" algn="tl">
                    <a:srgbClr val="000000">
                      <a:alpha val="43137"/>
                    </a:srgbClr>
                  </a:outerShdw>
                </a:effectLst>
              </a:rPr>
              <a:t/>
            </a:r>
            <a:br>
              <a:rPr lang="tr-TR" sz="3600" b="0" dirty="0" smtClean="0">
                <a:effectLst>
                  <a:outerShdw blurRad="38100" dist="38100" dir="2700000" algn="tl">
                    <a:srgbClr val="000000">
                      <a:alpha val="43137"/>
                    </a:srgbClr>
                  </a:outerShdw>
                </a:effectLst>
              </a:rPr>
            </a:br>
            <a:r>
              <a:rPr lang="tr-TR" sz="3600" b="0" dirty="0">
                <a:effectLst>
                  <a:outerShdw blurRad="38100" dist="38100" dir="2700000" algn="tl">
                    <a:srgbClr val="000000">
                      <a:alpha val="43137"/>
                    </a:srgbClr>
                  </a:outerShdw>
                </a:effectLst>
              </a:rPr>
              <a:t/>
            </a:r>
            <a:br>
              <a:rPr lang="tr-TR" sz="3600" b="0" dirty="0">
                <a:effectLst>
                  <a:outerShdw blurRad="38100" dist="38100" dir="2700000" algn="tl">
                    <a:srgbClr val="000000">
                      <a:alpha val="43137"/>
                    </a:srgbClr>
                  </a:outerShdw>
                </a:effectLst>
              </a:rPr>
            </a:br>
            <a:r>
              <a:rPr lang="tr-TR" sz="3600" b="0" dirty="0" smtClean="0">
                <a:effectLst>
                  <a:outerShdw blurRad="38100" dist="38100" dir="2700000" algn="tl">
                    <a:srgbClr val="000000">
                      <a:alpha val="43137"/>
                    </a:srgbClr>
                  </a:outerShdw>
                </a:effectLst>
              </a:rPr>
              <a:t>CSCN8010</a:t>
            </a:r>
            <a:r>
              <a:rPr lang="tr-TR" sz="3600" b="0" dirty="0" smtClean="0">
                <a:effectLst>
                  <a:outerShdw blurRad="38100" dist="38100" dir="2700000" algn="tl">
                    <a:srgbClr val="000000">
                      <a:alpha val="43137"/>
                    </a:srgbClr>
                  </a:outerShdw>
                </a:effectLst>
              </a:rPr>
              <a:t/>
            </a:r>
            <a:br>
              <a:rPr lang="tr-TR" sz="3600" b="0" dirty="0" smtClean="0">
                <a:effectLst>
                  <a:outerShdw blurRad="38100" dist="38100" dir="2700000" algn="tl">
                    <a:srgbClr val="000000">
                      <a:alpha val="43137"/>
                    </a:srgbClr>
                  </a:outerShdw>
                </a:effectLst>
              </a:rPr>
            </a:br>
            <a:r>
              <a:rPr lang="tr-TR" sz="3600" b="0" dirty="0" smtClean="0">
                <a:effectLst>
                  <a:outerShdw blurRad="38100" dist="38100" dir="2700000" algn="tl">
                    <a:srgbClr val="000000">
                      <a:alpha val="43137"/>
                    </a:srgbClr>
                  </a:outerShdw>
                </a:effectLst>
              </a:rPr>
              <a:t>Group#4’s Final PROJECT</a:t>
            </a:r>
            <a:br>
              <a:rPr lang="tr-TR" sz="3600" b="0" dirty="0" smtClean="0">
                <a:effectLst>
                  <a:outerShdw blurRad="38100" dist="38100" dir="2700000" algn="tl">
                    <a:srgbClr val="000000">
                      <a:alpha val="43137"/>
                    </a:srgbClr>
                  </a:outerShdw>
                </a:effectLst>
              </a:rPr>
            </a:br>
            <a:r>
              <a:rPr lang="tr-TR" sz="3600" b="0" dirty="0">
                <a:effectLst>
                  <a:outerShdw blurRad="38100" dist="38100" dir="2700000" algn="tl">
                    <a:srgbClr val="000000">
                      <a:alpha val="43137"/>
                    </a:srgbClr>
                  </a:outerShdw>
                </a:effectLst>
              </a:rPr>
              <a:t>AI-Enhanced Self-Service Portal for Student Affairs</a:t>
            </a:r>
          </a:p>
        </p:txBody>
      </p:sp>
      <p:sp>
        <p:nvSpPr>
          <p:cNvPr id="3" name="Subtitle 2"/>
          <p:cNvSpPr>
            <a:spLocks noGrp="1"/>
          </p:cNvSpPr>
          <p:nvPr>
            <p:ph type="subTitle" idx="1"/>
          </p:nvPr>
        </p:nvSpPr>
        <p:spPr>
          <a:xfrm>
            <a:off x="323528" y="3645024"/>
            <a:ext cx="7776864" cy="2160240"/>
          </a:xfrm>
        </p:spPr>
        <p:txBody>
          <a:bodyPr>
            <a:normAutofit/>
          </a:bodyPr>
          <a:lstStyle/>
          <a:p>
            <a:pPr marL="342900" indent="-342900" algn="l">
              <a:buFont typeface="Wingdings" panose="05000000000000000000" pitchFamily="2" charset="2"/>
              <a:buChar char="Ø"/>
            </a:pPr>
            <a:r>
              <a:rPr lang="tr-TR" sz="2000" b="1" dirty="0" smtClean="0">
                <a:solidFill>
                  <a:srgbClr val="FFC000"/>
                </a:solidFill>
              </a:rPr>
              <a:t>Aiswarya </a:t>
            </a:r>
            <a:r>
              <a:rPr lang="tr-TR" sz="2000" b="1" dirty="0">
                <a:solidFill>
                  <a:srgbClr val="FFC000"/>
                </a:solidFill>
              </a:rPr>
              <a:t>Thekkuveettil - 8993970</a:t>
            </a:r>
            <a:endParaRPr lang="tr-TR" sz="2000" b="1" dirty="0" smtClean="0">
              <a:solidFill>
                <a:srgbClr val="FFC000"/>
              </a:solidFill>
            </a:endParaRPr>
          </a:p>
          <a:p>
            <a:pPr marL="342900" indent="-342900" algn="l">
              <a:buFont typeface="Wingdings" panose="05000000000000000000" pitchFamily="2" charset="2"/>
              <a:buChar char="Ø"/>
            </a:pPr>
            <a:r>
              <a:rPr lang="tr-TR" sz="2000" b="1" dirty="0" smtClean="0">
                <a:solidFill>
                  <a:srgbClr val="FFC000"/>
                </a:solidFill>
              </a:rPr>
              <a:t>Rohit </a:t>
            </a:r>
            <a:r>
              <a:rPr lang="tr-TR" sz="2000" b="1" dirty="0">
                <a:solidFill>
                  <a:srgbClr val="FFC000"/>
                </a:solidFill>
              </a:rPr>
              <a:t>Krishnamurthy </a:t>
            </a:r>
            <a:r>
              <a:rPr lang="tr-TR" sz="2000" b="1" dirty="0" smtClean="0">
                <a:solidFill>
                  <a:srgbClr val="FFC000"/>
                </a:solidFill>
              </a:rPr>
              <a:t>Iyer </a:t>
            </a:r>
            <a:r>
              <a:rPr lang="tr-TR" sz="2000" b="1" dirty="0">
                <a:solidFill>
                  <a:srgbClr val="FFC000"/>
                </a:solidFill>
              </a:rPr>
              <a:t>- 8993045</a:t>
            </a:r>
            <a:endParaRPr lang="tr-TR" sz="2000" b="1" dirty="0">
              <a:solidFill>
                <a:srgbClr val="FFC000"/>
              </a:solidFill>
            </a:endParaRPr>
          </a:p>
          <a:p>
            <a:pPr marL="342900" indent="-342900" algn="l">
              <a:buFont typeface="Wingdings" panose="05000000000000000000" pitchFamily="2" charset="2"/>
              <a:buChar char="Ø"/>
            </a:pPr>
            <a:r>
              <a:rPr lang="tr-TR" sz="2000" b="1" dirty="0" smtClean="0">
                <a:solidFill>
                  <a:srgbClr val="FFC000"/>
                </a:solidFill>
              </a:rPr>
              <a:t> Vishnu </a:t>
            </a:r>
            <a:r>
              <a:rPr lang="tr-TR" sz="2000" b="1" dirty="0" smtClean="0">
                <a:solidFill>
                  <a:srgbClr val="FFC000"/>
                </a:solidFill>
              </a:rPr>
              <a:t>Sivaraj </a:t>
            </a:r>
            <a:r>
              <a:rPr lang="tr-TR" sz="2000" b="1" dirty="0">
                <a:solidFill>
                  <a:srgbClr val="FFC000"/>
                </a:solidFill>
              </a:rPr>
              <a:t>- 9025320</a:t>
            </a:r>
            <a:endParaRPr lang="tr-TR" sz="2000" b="1" dirty="0" smtClean="0">
              <a:solidFill>
                <a:srgbClr val="FFC000"/>
              </a:solidFill>
            </a:endParaRPr>
          </a:p>
          <a:p>
            <a:pPr marL="342900" indent="-342900" algn="l">
              <a:buFont typeface="Wingdings" panose="05000000000000000000" pitchFamily="2" charset="2"/>
              <a:buChar char="Ø"/>
            </a:pPr>
            <a:r>
              <a:rPr lang="tr-TR" sz="2000" b="1" dirty="0" smtClean="0">
                <a:solidFill>
                  <a:srgbClr val="FFC000"/>
                </a:solidFill>
              </a:rPr>
              <a:t>Cemil Caglar </a:t>
            </a:r>
            <a:r>
              <a:rPr lang="tr-TR" sz="2000" b="1" dirty="0" smtClean="0">
                <a:solidFill>
                  <a:srgbClr val="FFC000"/>
                </a:solidFill>
              </a:rPr>
              <a:t>Yapici - 9081058</a:t>
            </a:r>
            <a:endParaRPr lang="tr-TR" sz="2000" b="1" dirty="0">
              <a:solidFill>
                <a:srgbClr val="FFC000"/>
              </a:solidFill>
            </a:endParaRPr>
          </a:p>
          <a:p>
            <a:pPr marL="342900" indent="-342900" algn="l">
              <a:buFont typeface="Wingdings" panose="05000000000000000000" pitchFamily="2" charset="2"/>
              <a:buChar char="q"/>
            </a:pPr>
            <a:endParaRPr lang="tr-TR" sz="2000" dirty="0">
              <a:solidFill>
                <a:srgbClr val="FFC000"/>
              </a:solidFill>
            </a:endParaRPr>
          </a:p>
        </p:txBody>
      </p:sp>
    </p:spTree>
    <p:extLst>
      <p:ext uri="{BB962C8B-B14F-4D97-AF65-F5344CB8AC3E}">
        <p14:creationId xmlns:p14="http://schemas.microsoft.com/office/powerpoint/2010/main" val="41115784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Project Purpose and Context</a:t>
            </a:r>
          </a:p>
        </p:txBody>
      </p:sp>
      <p:sp>
        <p:nvSpPr>
          <p:cNvPr id="3" name="Content Placeholder 2"/>
          <p:cNvSpPr>
            <a:spLocks noGrp="1"/>
          </p:cNvSpPr>
          <p:nvPr>
            <p:ph idx="1"/>
          </p:nvPr>
        </p:nvSpPr>
        <p:spPr/>
        <p:txBody>
          <a:bodyPr>
            <a:normAutofit/>
          </a:bodyPr>
          <a:lstStyle/>
          <a:p>
            <a:r>
              <a:rPr lang="tr-TR" sz="2000" dirty="0" smtClean="0">
                <a:solidFill>
                  <a:srgbClr val="FFC000"/>
                </a:solidFill>
              </a:rPr>
              <a:t>As it knows that </a:t>
            </a:r>
            <a:r>
              <a:rPr lang="en-US" sz="2000" dirty="0">
                <a:solidFill>
                  <a:srgbClr val="FFC000"/>
                </a:solidFill>
              </a:rPr>
              <a:t>Student Success Advisors (SSAs) are overwhelmed by repetitive, low-complexity inquiries, especially after recent staff reductions. Students often ask the same FAQ-type questions, consuming advisor time</a:t>
            </a:r>
            <a:r>
              <a:rPr lang="en-US" sz="2000" dirty="0" smtClean="0">
                <a:solidFill>
                  <a:srgbClr val="FFC000"/>
                </a:solidFill>
              </a:rPr>
              <a:t>.</a:t>
            </a:r>
            <a:endParaRPr lang="tr-TR" sz="2000" dirty="0" smtClean="0">
              <a:solidFill>
                <a:srgbClr val="FFC000"/>
              </a:solidFill>
            </a:endParaRPr>
          </a:p>
          <a:p>
            <a:r>
              <a:rPr lang="tr-TR" sz="2000" dirty="0" smtClean="0">
                <a:solidFill>
                  <a:srgbClr val="FFC000"/>
                </a:solidFill>
              </a:rPr>
              <a:t>Now our goal is: </a:t>
            </a:r>
            <a:r>
              <a:rPr lang="en-US" sz="2000" dirty="0">
                <a:solidFill>
                  <a:srgbClr val="FFC000"/>
                </a:solidFill>
              </a:rPr>
              <a:t>Develop a self-service </a:t>
            </a:r>
            <a:r>
              <a:rPr lang="en-US" sz="2000" b="1" dirty="0">
                <a:solidFill>
                  <a:srgbClr val="FFC000"/>
                </a:solidFill>
              </a:rPr>
              <a:t>AI </a:t>
            </a:r>
            <a:r>
              <a:rPr lang="en-US" sz="2000" b="1" dirty="0" err="1">
                <a:solidFill>
                  <a:srgbClr val="FFC000"/>
                </a:solidFill>
              </a:rPr>
              <a:t>chatbot</a:t>
            </a:r>
            <a:r>
              <a:rPr lang="en-US" sz="2000" dirty="0">
                <a:solidFill>
                  <a:srgbClr val="FFC000"/>
                </a:solidFill>
              </a:rPr>
              <a:t> to handle these frequently asked questions automatically, reducing SSA workload and wait times for students</a:t>
            </a:r>
            <a:r>
              <a:rPr lang="en-US" sz="2000" dirty="0" smtClean="0">
                <a:solidFill>
                  <a:srgbClr val="FFC000"/>
                </a:solidFill>
              </a:rPr>
              <a:t>.</a:t>
            </a:r>
            <a:endParaRPr lang="tr-TR" sz="2000" dirty="0" smtClean="0">
              <a:solidFill>
                <a:srgbClr val="FFC000"/>
              </a:solidFill>
            </a:endParaRPr>
          </a:p>
          <a:p>
            <a:r>
              <a:rPr lang="tr-TR" sz="2000" dirty="0" smtClean="0">
                <a:solidFill>
                  <a:srgbClr val="FFC000"/>
                </a:solidFill>
              </a:rPr>
              <a:t>Scope:</a:t>
            </a:r>
            <a:r>
              <a:rPr lang="tr-TR" sz="2000" b="1" dirty="0">
                <a:solidFill>
                  <a:srgbClr val="FFC000"/>
                </a:solidFill>
              </a:rPr>
              <a:t> </a:t>
            </a:r>
            <a:r>
              <a:rPr lang="en-US" sz="2000" dirty="0" smtClean="0">
                <a:solidFill>
                  <a:srgbClr val="FFC000"/>
                </a:solidFill>
              </a:rPr>
              <a:t>The </a:t>
            </a:r>
            <a:r>
              <a:rPr lang="en-US" sz="2000" dirty="0" err="1">
                <a:solidFill>
                  <a:srgbClr val="FFC000"/>
                </a:solidFill>
              </a:rPr>
              <a:t>chatbot</a:t>
            </a:r>
            <a:r>
              <a:rPr lang="en-US" sz="2000" dirty="0">
                <a:solidFill>
                  <a:srgbClr val="FFC000"/>
                </a:solidFill>
              </a:rPr>
              <a:t> will answer common Student Affairs queries (e.g. enrollment, fees, course changes) and </a:t>
            </a:r>
            <a:r>
              <a:rPr lang="en-US" sz="2000" b="1" dirty="0">
                <a:solidFill>
                  <a:srgbClr val="FFC000"/>
                </a:solidFill>
              </a:rPr>
              <a:t>escalate to a human advisor</a:t>
            </a:r>
            <a:r>
              <a:rPr lang="en-US" sz="2000" dirty="0">
                <a:solidFill>
                  <a:srgbClr val="FFC000"/>
                </a:solidFill>
              </a:rPr>
              <a:t> for complex or sensitive issues (a safety “off-ramp”). This ensures students still get personal help when needed.</a:t>
            </a:r>
            <a:endParaRPr lang="tr-TR" sz="2000" dirty="0">
              <a:solidFill>
                <a:srgbClr val="FFC000"/>
              </a:solidFill>
            </a:endParaRPr>
          </a:p>
        </p:txBody>
      </p:sp>
    </p:spTree>
    <p:extLst>
      <p:ext uri="{BB962C8B-B14F-4D97-AF65-F5344CB8AC3E}">
        <p14:creationId xmlns:p14="http://schemas.microsoft.com/office/powerpoint/2010/main" val="37169317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dirty="0"/>
              <a:t>Solution Overview &amp; System Architecture</a:t>
            </a:r>
          </a:p>
        </p:txBody>
      </p:sp>
      <p:sp>
        <p:nvSpPr>
          <p:cNvPr id="3" name="Content Placeholder 2"/>
          <p:cNvSpPr>
            <a:spLocks noGrp="1"/>
          </p:cNvSpPr>
          <p:nvPr>
            <p:ph idx="1"/>
          </p:nvPr>
        </p:nvSpPr>
        <p:spPr/>
        <p:txBody>
          <a:bodyPr>
            <a:normAutofit/>
          </a:bodyPr>
          <a:lstStyle/>
          <a:p>
            <a:r>
              <a:rPr lang="tr-TR" dirty="0" smtClean="0"/>
              <a:t> </a:t>
            </a:r>
            <a:r>
              <a:rPr lang="en-US" sz="2200" b="1" dirty="0">
                <a:solidFill>
                  <a:srgbClr val="FFC000"/>
                </a:solidFill>
              </a:rPr>
              <a:t>Solution:</a:t>
            </a:r>
            <a:r>
              <a:rPr lang="en-US" sz="2200" dirty="0">
                <a:solidFill>
                  <a:srgbClr val="FFC000"/>
                </a:solidFill>
              </a:rPr>
              <a:t> A </a:t>
            </a:r>
            <a:r>
              <a:rPr lang="en-US" sz="2200" b="1" dirty="0">
                <a:solidFill>
                  <a:srgbClr val="FFC000"/>
                </a:solidFill>
              </a:rPr>
              <a:t>web-based </a:t>
            </a:r>
            <a:r>
              <a:rPr lang="en-US" sz="2200" b="1" dirty="0" err="1">
                <a:solidFill>
                  <a:srgbClr val="FFC000"/>
                </a:solidFill>
              </a:rPr>
              <a:t>chatbot</a:t>
            </a:r>
            <a:r>
              <a:rPr lang="en-US" sz="2200" b="1" dirty="0">
                <a:solidFill>
                  <a:srgbClr val="FFC000"/>
                </a:solidFill>
              </a:rPr>
              <a:t> portal</a:t>
            </a:r>
            <a:r>
              <a:rPr lang="en-US" sz="2200" dirty="0">
                <a:solidFill>
                  <a:srgbClr val="FFC000"/>
                </a:solidFill>
              </a:rPr>
              <a:t> where students ask questions and receive instant answers. Built with a friendly UI (using </a:t>
            </a:r>
            <a:r>
              <a:rPr lang="en-US" sz="2200" dirty="0" err="1">
                <a:solidFill>
                  <a:srgbClr val="FFC000"/>
                </a:solidFill>
              </a:rPr>
              <a:t>Streamlit</a:t>
            </a:r>
            <a:r>
              <a:rPr lang="en-US" sz="2200" dirty="0">
                <a:solidFill>
                  <a:srgbClr val="FFC000"/>
                </a:solidFill>
              </a:rPr>
              <a:t>) on the front-end and an intelligent FAQ retrieval system on the back-end</a:t>
            </a:r>
            <a:r>
              <a:rPr lang="en-US" sz="2200" dirty="0" smtClean="0">
                <a:solidFill>
                  <a:srgbClr val="FFC000"/>
                </a:solidFill>
              </a:rPr>
              <a:t>.</a:t>
            </a:r>
            <a:endParaRPr lang="tr-TR" sz="2200" dirty="0" smtClean="0">
              <a:solidFill>
                <a:srgbClr val="FFC000"/>
              </a:solidFill>
            </a:endParaRPr>
          </a:p>
          <a:p>
            <a:pPr marL="137160" indent="0">
              <a:buNone/>
            </a:pPr>
            <a:endParaRPr lang="tr-TR" sz="2200" dirty="0" smtClean="0">
              <a:solidFill>
                <a:srgbClr val="FFC000"/>
              </a:solidFill>
            </a:endParaRPr>
          </a:p>
          <a:p>
            <a:r>
              <a:rPr lang="en-US" sz="2200" b="1" dirty="0">
                <a:solidFill>
                  <a:srgbClr val="FFC000"/>
                </a:solidFill>
              </a:rPr>
              <a:t>Architecture Highlights:</a:t>
            </a:r>
            <a:r>
              <a:rPr lang="en-US" sz="2200" dirty="0">
                <a:solidFill>
                  <a:srgbClr val="FFC000"/>
                </a:solidFill>
              </a:rPr>
              <a:t> Student questions flow from the UI to an NLP-based engine that finds answers in an FAQ knowledge base. If an inquiry triggers certain keywords or appears too complex (e.g. emotional distress), the system will prompt the student to contact an advisor (escalation).</a:t>
            </a:r>
            <a:endParaRPr lang="tr-TR" sz="2200" dirty="0" smtClean="0">
              <a:solidFill>
                <a:srgbClr val="FFC000"/>
              </a:solidFill>
            </a:endParaRPr>
          </a:p>
          <a:p>
            <a:pPr marL="137160" indent="0">
              <a:buNone/>
            </a:pPr>
            <a:r>
              <a:rPr lang="tr-TR" dirty="0" smtClean="0"/>
              <a:t> </a:t>
            </a:r>
            <a:endParaRPr lang="tr-TR" dirty="0"/>
          </a:p>
        </p:txBody>
      </p:sp>
    </p:spTree>
    <p:extLst>
      <p:ext uri="{BB962C8B-B14F-4D97-AF65-F5344CB8AC3E}">
        <p14:creationId xmlns:p14="http://schemas.microsoft.com/office/powerpoint/2010/main" val="35126616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tr-TR" sz="3200" dirty="0" smtClean="0"/>
              <a:t>Architecture diagram</a:t>
            </a:r>
            <a:br>
              <a:rPr lang="tr-TR" sz="3200" dirty="0" smtClean="0"/>
            </a:br>
            <a:r>
              <a:rPr lang="tr-TR" sz="3200" dirty="0" smtClean="0"/>
              <a:t>(Made by AI for AI project </a:t>
            </a:r>
            <a:r>
              <a:rPr lang="tr-TR" sz="3200" dirty="0" smtClean="0">
                <a:sym typeface="Wingdings" panose="05000000000000000000" pitchFamily="2" charset="2"/>
              </a:rPr>
              <a:t> )</a:t>
            </a:r>
            <a:endParaRPr lang="tr-TR" sz="3200"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0606" y="1600200"/>
            <a:ext cx="7062787" cy="470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0591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27384"/>
            <a:ext cx="8229600" cy="1008112"/>
          </a:xfrm>
        </p:spPr>
        <p:txBody>
          <a:bodyPr>
            <a:normAutofit fontScale="90000"/>
          </a:bodyPr>
          <a:lstStyle/>
          <a:p>
            <a:r>
              <a:rPr lang="tr-TR" sz="2400" dirty="0" smtClean="0"/>
              <a:t>Good thing is: Streamlit is included VS Code/Python by .venv and it can be run locally also.</a:t>
            </a:r>
            <a:endParaRPr lang="tr-TR" sz="2400"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7504" y="1052736"/>
            <a:ext cx="8496943" cy="5616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772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Main Tasks to Do</a:t>
            </a:r>
            <a:endParaRPr lang="tr-TR"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5656" y="1556792"/>
            <a:ext cx="6350300" cy="5130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5657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OpenAI API KEY</a:t>
            </a:r>
            <a:endParaRPr lang="tr-TR" dirty="0"/>
          </a:p>
        </p:txBody>
      </p:sp>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1858917"/>
            <a:ext cx="8229600" cy="4191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7655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2656"/>
            <a:ext cx="8229600" cy="864096"/>
          </a:xfrm>
        </p:spPr>
        <p:txBody>
          <a:bodyPr/>
          <a:lstStyle/>
          <a:p>
            <a:r>
              <a:rPr lang="tr-TR" dirty="0" smtClean="0"/>
              <a:t>Main Components</a:t>
            </a:r>
            <a:endParaRPr lang="tr-TR" dirty="0"/>
          </a:p>
        </p:txBody>
      </p:sp>
      <p:sp>
        <p:nvSpPr>
          <p:cNvPr id="3" name="Content Placeholder 2"/>
          <p:cNvSpPr>
            <a:spLocks noGrp="1"/>
          </p:cNvSpPr>
          <p:nvPr>
            <p:ph idx="1"/>
          </p:nvPr>
        </p:nvSpPr>
        <p:spPr>
          <a:xfrm>
            <a:off x="457200" y="1124744"/>
            <a:ext cx="8229600" cy="5400600"/>
          </a:xfrm>
        </p:spPr>
        <p:txBody>
          <a:bodyPr>
            <a:normAutofit/>
          </a:bodyPr>
          <a:lstStyle/>
          <a:p>
            <a:r>
              <a:rPr lang="tr-TR" sz="2400" dirty="0" smtClean="0">
                <a:solidFill>
                  <a:srgbClr val="FFC000"/>
                </a:solidFill>
              </a:rPr>
              <a:t>Python:</a:t>
            </a:r>
          </a:p>
          <a:p>
            <a:pPr marL="137160" indent="0">
              <a:buNone/>
            </a:pPr>
            <a:r>
              <a:rPr lang="en-US" sz="2400" dirty="0" smtClean="0">
                <a:solidFill>
                  <a:srgbClr val="FFC000"/>
                </a:solidFill>
              </a:rPr>
              <a:t>Core </a:t>
            </a:r>
            <a:r>
              <a:rPr lang="en-US" sz="2400" dirty="0">
                <a:solidFill>
                  <a:srgbClr val="FFC000"/>
                </a:solidFill>
              </a:rPr>
              <a:t>language for development (backend logic, data processing, and integration of ML/NLP components).</a:t>
            </a:r>
            <a:endParaRPr lang="tr-TR" sz="2400" dirty="0" smtClean="0">
              <a:solidFill>
                <a:srgbClr val="FFC000"/>
              </a:solidFill>
            </a:endParaRPr>
          </a:p>
          <a:p>
            <a:r>
              <a:rPr lang="tr-TR" sz="2400" dirty="0" smtClean="0">
                <a:solidFill>
                  <a:srgbClr val="FFC000"/>
                </a:solidFill>
              </a:rPr>
              <a:t>CSV:</a:t>
            </a:r>
          </a:p>
          <a:p>
            <a:pPr marL="137160" indent="0">
              <a:buNone/>
            </a:pPr>
            <a:r>
              <a:rPr lang="tr-TR" sz="2400" dirty="0" smtClean="0">
                <a:solidFill>
                  <a:srgbClr val="FFC000"/>
                </a:solidFill>
              </a:rPr>
              <a:t>(for main datasets’ format, also known as excel files)</a:t>
            </a:r>
          </a:p>
          <a:p>
            <a:r>
              <a:rPr lang="tr-TR" sz="2400" dirty="0" smtClean="0">
                <a:solidFill>
                  <a:srgbClr val="FFC000"/>
                </a:solidFill>
              </a:rPr>
              <a:t>UI &amp; Visualization: </a:t>
            </a:r>
          </a:p>
          <a:p>
            <a:pPr marL="137160" indent="0">
              <a:buNone/>
            </a:pPr>
            <a:r>
              <a:rPr lang="en-US" sz="2400" dirty="0" err="1" smtClean="0">
                <a:solidFill>
                  <a:srgbClr val="FFC000"/>
                </a:solidFill>
              </a:rPr>
              <a:t>Streamlit</a:t>
            </a:r>
            <a:r>
              <a:rPr lang="en-US" sz="2400" dirty="0" smtClean="0">
                <a:solidFill>
                  <a:srgbClr val="FFC000"/>
                </a:solidFill>
              </a:rPr>
              <a:t> </a:t>
            </a:r>
            <a:r>
              <a:rPr lang="en-US" sz="2400" dirty="0">
                <a:solidFill>
                  <a:srgbClr val="FFC000"/>
                </a:solidFill>
              </a:rPr>
              <a:t>web app where students type questions and view </a:t>
            </a:r>
            <a:r>
              <a:rPr lang="en-US" sz="2400" dirty="0" smtClean="0">
                <a:solidFill>
                  <a:srgbClr val="FFC000"/>
                </a:solidFill>
              </a:rPr>
              <a:t>answers</a:t>
            </a:r>
            <a:r>
              <a:rPr lang="tr-TR" sz="2400" dirty="0" smtClean="0">
                <a:solidFill>
                  <a:srgbClr val="FFC000"/>
                </a:solidFill>
              </a:rPr>
              <a:t>. </a:t>
            </a:r>
            <a:r>
              <a:rPr lang="en-US" sz="2400" dirty="0" smtClean="0">
                <a:solidFill>
                  <a:srgbClr val="FFC000"/>
                </a:solidFill>
              </a:rPr>
              <a:t>Used </a:t>
            </a:r>
            <a:r>
              <a:rPr lang="en-US" sz="2400" dirty="0">
                <a:solidFill>
                  <a:srgbClr val="FFC000"/>
                </a:solidFill>
              </a:rPr>
              <a:t>to create the interactive web application interface for the </a:t>
            </a:r>
            <a:r>
              <a:rPr lang="en-US" sz="2400" dirty="0" err="1">
                <a:solidFill>
                  <a:srgbClr val="FFC000"/>
                </a:solidFill>
              </a:rPr>
              <a:t>chatbot</a:t>
            </a:r>
            <a:r>
              <a:rPr lang="en-US" sz="2400" dirty="0">
                <a:solidFill>
                  <a:srgbClr val="FFC000"/>
                </a:solidFill>
              </a:rPr>
              <a:t> (provides a quick way to build a frontend in Python)</a:t>
            </a:r>
            <a:endParaRPr lang="tr-TR" sz="2400" dirty="0" smtClean="0">
              <a:solidFill>
                <a:srgbClr val="FFC000"/>
              </a:solidFill>
            </a:endParaRPr>
          </a:p>
          <a:p>
            <a:endParaRPr lang="tr-TR" sz="2400" dirty="0">
              <a:solidFill>
                <a:srgbClr val="FFC000"/>
              </a:solidFill>
            </a:endParaRPr>
          </a:p>
        </p:txBody>
      </p:sp>
    </p:spTree>
    <p:extLst>
      <p:ext uri="{BB962C8B-B14F-4D97-AF65-F5344CB8AC3E}">
        <p14:creationId xmlns:p14="http://schemas.microsoft.com/office/powerpoint/2010/main" val="4067068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116632"/>
            <a:ext cx="8229600" cy="864096"/>
          </a:xfrm>
        </p:spPr>
        <p:txBody>
          <a:bodyPr/>
          <a:lstStyle/>
          <a:p>
            <a:r>
              <a:rPr lang="tr-TR" dirty="0" smtClean="0"/>
              <a:t>Main Components</a:t>
            </a:r>
            <a:endParaRPr lang="tr-TR" dirty="0"/>
          </a:p>
        </p:txBody>
      </p:sp>
      <p:sp>
        <p:nvSpPr>
          <p:cNvPr id="3" name="Content Placeholder 2"/>
          <p:cNvSpPr>
            <a:spLocks noGrp="1"/>
          </p:cNvSpPr>
          <p:nvPr>
            <p:ph idx="1"/>
          </p:nvPr>
        </p:nvSpPr>
        <p:spPr>
          <a:xfrm>
            <a:off x="457200" y="908720"/>
            <a:ext cx="8229600" cy="5688632"/>
          </a:xfrm>
        </p:spPr>
        <p:txBody>
          <a:bodyPr>
            <a:normAutofit/>
          </a:bodyPr>
          <a:lstStyle/>
          <a:p>
            <a:r>
              <a:rPr lang="tr-TR" sz="2400" dirty="0" smtClean="0">
                <a:solidFill>
                  <a:srgbClr val="FFC000"/>
                </a:solidFill>
              </a:rPr>
              <a:t>Jupyter Notebook:</a:t>
            </a:r>
          </a:p>
          <a:p>
            <a:pPr marL="137160" indent="0">
              <a:buNone/>
            </a:pPr>
            <a:r>
              <a:rPr lang="en-US" sz="2400" dirty="0">
                <a:solidFill>
                  <a:srgbClr val="FFC000"/>
                </a:solidFill>
              </a:rPr>
              <a:t>Utilized during development for prototyping and experimenting with NLP models and data </a:t>
            </a:r>
            <a:r>
              <a:rPr lang="en-US" sz="2400" dirty="0" smtClean="0">
                <a:solidFill>
                  <a:srgbClr val="FFC000"/>
                </a:solidFill>
              </a:rPr>
              <a:t>(initial </a:t>
            </a:r>
            <a:r>
              <a:rPr lang="en-US" sz="2400" dirty="0">
                <a:solidFill>
                  <a:srgbClr val="FFC000"/>
                </a:solidFill>
              </a:rPr>
              <a:t>model training, testing queries</a:t>
            </a:r>
            <a:r>
              <a:rPr lang="en-US" sz="2400" dirty="0" smtClean="0">
                <a:solidFill>
                  <a:srgbClr val="FFC000"/>
                </a:solidFill>
              </a:rPr>
              <a:t>).</a:t>
            </a:r>
            <a:endParaRPr lang="tr-TR" sz="2400" dirty="0" smtClean="0">
              <a:solidFill>
                <a:srgbClr val="FFC000"/>
              </a:solidFill>
            </a:endParaRPr>
          </a:p>
          <a:p>
            <a:pPr marL="137160" indent="0">
              <a:buNone/>
            </a:pPr>
            <a:r>
              <a:rPr lang="tr-TR" sz="2400" dirty="0" smtClean="0">
                <a:solidFill>
                  <a:srgbClr val="FFC000"/>
                </a:solidFill>
              </a:rPr>
              <a:t>Note: For Visualization Jupyter Notebook is our 2nd option like alternative if streamlit causes issues.</a:t>
            </a:r>
          </a:p>
          <a:p>
            <a:pPr marL="137160" indent="0">
              <a:buNone/>
            </a:pPr>
            <a:endParaRPr lang="tr-TR" sz="2400" dirty="0" smtClean="0">
              <a:solidFill>
                <a:srgbClr val="FFC000"/>
              </a:solidFill>
            </a:endParaRPr>
          </a:p>
          <a:p>
            <a:r>
              <a:rPr lang="tr-TR" sz="2400" dirty="0" smtClean="0">
                <a:solidFill>
                  <a:srgbClr val="FFC000"/>
                </a:solidFill>
              </a:rPr>
              <a:t>VS Code:</a:t>
            </a:r>
          </a:p>
          <a:p>
            <a:pPr marL="137160" indent="0">
              <a:buNone/>
            </a:pPr>
            <a:r>
              <a:rPr lang="en-US" sz="2400" dirty="0">
                <a:solidFill>
                  <a:srgbClr val="FFC000"/>
                </a:solidFill>
              </a:rPr>
              <a:t>Primary code editor/IDE for the project, for implementing the application modules (helped in writing Python scripts, managing the project repository</a:t>
            </a:r>
            <a:r>
              <a:rPr lang="en-US" sz="2400" dirty="0" smtClean="0">
                <a:solidFill>
                  <a:srgbClr val="FFC000"/>
                </a:solidFill>
              </a:rPr>
              <a:t>).</a:t>
            </a:r>
            <a:endParaRPr lang="tr-TR" sz="2400" dirty="0" smtClean="0">
              <a:solidFill>
                <a:srgbClr val="FFC000"/>
              </a:solidFill>
            </a:endParaRPr>
          </a:p>
          <a:p>
            <a:endParaRPr lang="tr-TR" sz="2400" dirty="0" smtClean="0">
              <a:solidFill>
                <a:srgbClr val="FFC000"/>
              </a:solidFill>
            </a:endParaRPr>
          </a:p>
        </p:txBody>
      </p:sp>
    </p:spTree>
    <p:extLst>
      <p:ext uri="{BB962C8B-B14F-4D97-AF65-F5344CB8AC3E}">
        <p14:creationId xmlns:p14="http://schemas.microsoft.com/office/powerpoint/2010/main" val="3675351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90066"/>
          </a:xfrm>
        </p:spPr>
        <p:txBody>
          <a:bodyPr>
            <a:noAutofit/>
          </a:bodyPr>
          <a:lstStyle/>
          <a:p>
            <a:r>
              <a:rPr lang="tr-TR" sz="2800" dirty="0" smtClean="0"/>
              <a:t>Main Screenshots from our project</a:t>
            </a:r>
            <a:endParaRPr lang="tr-TR" sz="2800" dirty="0"/>
          </a:p>
        </p:txBody>
      </p:sp>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95536" y="908720"/>
            <a:ext cx="8208912" cy="5328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6064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dirty="0"/>
          </a:p>
        </p:txBody>
      </p:sp>
      <p:pic>
        <p:nvPicPr>
          <p:cNvPr id="307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633044" y="1600200"/>
            <a:ext cx="5877911" cy="470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212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dirty="0"/>
              <a:t>Knowledge Base (Data Sources)</a:t>
            </a:r>
          </a:p>
        </p:txBody>
      </p:sp>
      <p:sp>
        <p:nvSpPr>
          <p:cNvPr id="3" name="Content Placeholder 2"/>
          <p:cNvSpPr>
            <a:spLocks noGrp="1"/>
          </p:cNvSpPr>
          <p:nvPr>
            <p:ph idx="1"/>
          </p:nvPr>
        </p:nvSpPr>
        <p:spPr>
          <a:xfrm>
            <a:off x="457200" y="1600200"/>
            <a:ext cx="8229600" cy="4925144"/>
          </a:xfrm>
        </p:spPr>
        <p:txBody>
          <a:bodyPr>
            <a:normAutofit/>
          </a:bodyPr>
          <a:lstStyle/>
          <a:p>
            <a:pPr marL="137160" indent="0">
              <a:buNone/>
            </a:pPr>
            <a:r>
              <a:rPr lang="tr-TR" sz="2000" dirty="0" smtClean="0">
                <a:solidFill>
                  <a:srgbClr val="FFC000"/>
                </a:solidFill>
              </a:rPr>
              <a:t>As we mentioned on previous pages we have datasets that we had taken from different sources in different formats. Let us explain:</a:t>
            </a:r>
          </a:p>
          <a:p>
            <a:endParaRPr lang="tr-TR" sz="2000" dirty="0" smtClean="0">
              <a:solidFill>
                <a:srgbClr val="FFC000"/>
              </a:solidFill>
            </a:endParaRPr>
          </a:p>
          <a:p>
            <a:r>
              <a:rPr lang="tr-TR" sz="2000" dirty="0" smtClean="0">
                <a:solidFill>
                  <a:srgbClr val="FFC000"/>
                </a:solidFill>
              </a:rPr>
              <a:t>Student </a:t>
            </a:r>
            <a:r>
              <a:rPr lang="tr-TR" sz="2000" dirty="0">
                <a:solidFill>
                  <a:srgbClr val="FFC000"/>
                </a:solidFill>
              </a:rPr>
              <a:t>FAQ Documents (PDFs</a:t>
            </a:r>
            <a:r>
              <a:rPr lang="tr-TR" sz="2000" dirty="0" smtClean="0">
                <a:solidFill>
                  <a:srgbClr val="FFC000"/>
                </a:solidFill>
              </a:rPr>
              <a:t>):</a:t>
            </a:r>
          </a:p>
          <a:p>
            <a:pPr marL="137160" indent="0">
              <a:buNone/>
            </a:pPr>
            <a:r>
              <a:rPr lang="en-US" sz="2000" dirty="0">
                <a:solidFill>
                  <a:srgbClr val="FFC000"/>
                </a:solidFill>
              </a:rPr>
              <a:t>We gathered official FAQs from Student Affairs departments – e.g. a Registrar Office FAQ and a Student Fees FAQ – which contain common questions and answers. These PDFs cover topics like fee payments, course registration, OSAP, withdrawals, etc., forming the content the </a:t>
            </a:r>
            <a:r>
              <a:rPr lang="en-US" sz="2000" dirty="0" err="1">
                <a:solidFill>
                  <a:srgbClr val="FFC000"/>
                </a:solidFill>
              </a:rPr>
              <a:t>chatbot</a:t>
            </a:r>
            <a:r>
              <a:rPr lang="en-US" sz="2000" dirty="0">
                <a:solidFill>
                  <a:srgbClr val="FFC000"/>
                </a:solidFill>
              </a:rPr>
              <a:t> can draw from</a:t>
            </a:r>
            <a:r>
              <a:rPr lang="en-US" sz="2000" dirty="0" smtClean="0">
                <a:solidFill>
                  <a:srgbClr val="FFC000"/>
                </a:solidFill>
              </a:rPr>
              <a:t>.</a:t>
            </a:r>
            <a:endParaRPr lang="tr-TR" sz="2000" dirty="0" smtClean="0">
              <a:solidFill>
                <a:srgbClr val="FFC000"/>
              </a:solidFill>
            </a:endParaRPr>
          </a:p>
          <a:p>
            <a:pPr marL="137160" indent="0">
              <a:buNone/>
            </a:pPr>
            <a:endParaRPr lang="tr-TR" sz="2000" dirty="0" smtClean="0">
              <a:solidFill>
                <a:srgbClr val="FFC000"/>
              </a:solidFill>
            </a:endParaRPr>
          </a:p>
          <a:p>
            <a:r>
              <a:rPr lang="tr-TR" sz="2000" dirty="0">
                <a:solidFill>
                  <a:srgbClr val="FFC000"/>
                </a:solidFill>
              </a:rPr>
              <a:t>CSV Datasets</a:t>
            </a:r>
            <a:r>
              <a:rPr lang="tr-TR" sz="2000" dirty="0" smtClean="0">
                <a:solidFill>
                  <a:srgbClr val="FFC000"/>
                </a:solidFill>
              </a:rPr>
              <a:t>:</a:t>
            </a:r>
          </a:p>
          <a:p>
            <a:pPr marL="137160" indent="0">
              <a:buNone/>
            </a:pPr>
            <a:r>
              <a:rPr lang="en-US" sz="2000" dirty="0">
                <a:solidFill>
                  <a:srgbClr val="FFC000"/>
                </a:solidFill>
              </a:rPr>
              <a:t>The team extracted and compiled Q&amp;A pairs from these PDFs into structured CSV files (included in the project zip). The CSV format makes it easy to load data into the </a:t>
            </a:r>
            <a:r>
              <a:rPr lang="en-US" sz="2000" dirty="0" err="1">
                <a:solidFill>
                  <a:srgbClr val="FFC000"/>
                </a:solidFill>
              </a:rPr>
              <a:t>chatbot</a:t>
            </a:r>
            <a:r>
              <a:rPr lang="en-US" sz="2000" dirty="0">
                <a:solidFill>
                  <a:srgbClr val="FFC000"/>
                </a:solidFill>
              </a:rPr>
              <a:t> and perform searches</a:t>
            </a:r>
            <a:endParaRPr lang="tr-TR" sz="2000" dirty="0">
              <a:solidFill>
                <a:srgbClr val="FFC000"/>
              </a:solidFill>
            </a:endParaRPr>
          </a:p>
        </p:txBody>
      </p:sp>
    </p:spTree>
    <p:extLst>
      <p:ext uri="{BB962C8B-B14F-4D97-AF65-F5344CB8AC3E}">
        <p14:creationId xmlns:p14="http://schemas.microsoft.com/office/powerpoint/2010/main" val="2700122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648072"/>
          </a:xfrm>
        </p:spPr>
        <p:txBody>
          <a:bodyPr>
            <a:normAutofit fontScale="90000"/>
          </a:bodyPr>
          <a:lstStyle/>
          <a:p>
            <a:r>
              <a:rPr lang="tr-TR" dirty="0"/>
              <a:t>Knowledge Base (Data Sources)</a:t>
            </a:r>
          </a:p>
        </p:txBody>
      </p:sp>
      <p:sp>
        <p:nvSpPr>
          <p:cNvPr id="3" name="Content Placeholder 2"/>
          <p:cNvSpPr>
            <a:spLocks noGrp="1"/>
          </p:cNvSpPr>
          <p:nvPr>
            <p:ph idx="1"/>
          </p:nvPr>
        </p:nvSpPr>
        <p:spPr>
          <a:xfrm>
            <a:off x="323528" y="764704"/>
            <a:ext cx="8363272" cy="5904656"/>
          </a:xfrm>
        </p:spPr>
        <p:txBody>
          <a:bodyPr/>
          <a:lstStyle/>
          <a:p>
            <a:r>
              <a:rPr lang="tr-TR" sz="2000" dirty="0">
                <a:solidFill>
                  <a:srgbClr val="FFC000"/>
                </a:solidFill>
              </a:rPr>
              <a:t>Data Usage</a:t>
            </a:r>
            <a:r>
              <a:rPr lang="tr-TR" sz="2000" dirty="0" smtClean="0">
                <a:solidFill>
                  <a:srgbClr val="FFC000"/>
                </a:solidFill>
              </a:rPr>
              <a:t>:</a:t>
            </a:r>
          </a:p>
          <a:p>
            <a:pPr marL="137160" indent="0">
              <a:buNone/>
            </a:pPr>
            <a:r>
              <a:rPr lang="en-US" sz="2000" dirty="0">
                <a:solidFill>
                  <a:srgbClr val="FFC000"/>
                </a:solidFill>
              </a:rPr>
              <a:t>At runtime, the </a:t>
            </a:r>
            <a:r>
              <a:rPr lang="en-US" sz="2000" dirty="0" err="1">
                <a:solidFill>
                  <a:srgbClr val="FFC000"/>
                </a:solidFill>
              </a:rPr>
              <a:t>chatbot</a:t>
            </a:r>
            <a:r>
              <a:rPr lang="en-US" sz="2000" dirty="0">
                <a:solidFill>
                  <a:srgbClr val="FFC000"/>
                </a:solidFill>
              </a:rPr>
              <a:t> indexes this content (using TF-IDF vectorization on questions). When a student asks something, the system compares the query against all known questions to retrieve the best match and its answer</a:t>
            </a:r>
            <a:r>
              <a:rPr lang="en-US" sz="2000" dirty="0" smtClean="0">
                <a:solidFill>
                  <a:srgbClr val="FFC000"/>
                </a:solidFill>
              </a:rPr>
              <a:t>.</a:t>
            </a:r>
            <a:endParaRPr lang="tr-TR" sz="2000" dirty="0" smtClean="0">
              <a:solidFill>
                <a:srgbClr val="FFC000"/>
              </a:solidFill>
            </a:endParaRPr>
          </a:p>
          <a:p>
            <a:pPr marL="137160" indent="0">
              <a:buNone/>
            </a:pPr>
            <a:endParaRPr lang="tr-TR" sz="2000" dirty="0">
              <a:solidFill>
                <a:srgbClr val="FFC000"/>
              </a:solidFill>
            </a:endParaRPr>
          </a:p>
          <a:p>
            <a:r>
              <a:rPr lang="tr-TR" sz="2000" dirty="0">
                <a:solidFill>
                  <a:srgbClr val="FFC000"/>
                </a:solidFill>
              </a:rPr>
              <a:t>Maintenance</a:t>
            </a:r>
            <a:r>
              <a:rPr lang="tr-TR" sz="2000" dirty="0" smtClean="0">
                <a:solidFill>
                  <a:srgbClr val="FFC000"/>
                </a:solidFill>
              </a:rPr>
              <a:t>:</a:t>
            </a:r>
          </a:p>
          <a:p>
            <a:pPr marL="137160" indent="0">
              <a:buNone/>
            </a:pPr>
            <a:r>
              <a:rPr lang="en-US" sz="2000" dirty="0">
                <a:solidFill>
                  <a:srgbClr val="FFC000"/>
                </a:solidFill>
              </a:rPr>
              <a:t>The design allows updating the knowledge base by simply adding new entries to the CSV or updating the source documents, so the </a:t>
            </a:r>
            <a:r>
              <a:rPr lang="en-US" sz="2000" dirty="0" err="1">
                <a:solidFill>
                  <a:srgbClr val="FFC000"/>
                </a:solidFill>
              </a:rPr>
              <a:t>chatbot</a:t>
            </a:r>
            <a:r>
              <a:rPr lang="en-US" sz="2000" dirty="0">
                <a:solidFill>
                  <a:srgbClr val="FFC000"/>
                </a:solidFill>
              </a:rPr>
              <a:t> can stay up-to-date as policies change.</a:t>
            </a:r>
            <a:endParaRPr lang="tr-TR" sz="2000" dirty="0">
              <a:solidFill>
                <a:srgbClr val="FFC000"/>
              </a:solidFill>
            </a:endParaRPr>
          </a:p>
        </p:txBody>
      </p:sp>
    </p:spTree>
    <p:extLst>
      <p:ext uri="{BB962C8B-B14F-4D97-AF65-F5344CB8AC3E}">
        <p14:creationId xmlns:p14="http://schemas.microsoft.com/office/powerpoint/2010/main" val="1880015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smtClean="0"/>
              <a:t>Sources</a:t>
            </a:r>
            <a:endParaRPr lang="tr-TR" dirty="0"/>
          </a:p>
        </p:txBody>
      </p:sp>
      <p:sp>
        <p:nvSpPr>
          <p:cNvPr id="3" name="Content Placeholder 2"/>
          <p:cNvSpPr>
            <a:spLocks noGrp="1"/>
          </p:cNvSpPr>
          <p:nvPr>
            <p:ph idx="1"/>
          </p:nvPr>
        </p:nvSpPr>
        <p:spPr/>
        <p:txBody>
          <a:bodyPr/>
          <a:lstStyle/>
          <a:p>
            <a:r>
              <a:rPr lang="tr-TR" dirty="0" smtClean="0"/>
              <a:t> Openai.com</a:t>
            </a:r>
          </a:p>
          <a:p>
            <a:r>
              <a:rPr lang="tr-TR" dirty="0"/>
              <a:t> </a:t>
            </a:r>
            <a:r>
              <a:rPr lang="tr-TR" dirty="0" smtClean="0"/>
              <a:t>VSCode documents.</a:t>
            </a:r>
          </a:p>
          <a:p>
            <a:r>
              <a:rPr lang="tr-TR" dirty="0" smtClean="0"/>
              <a:t> Stackoverflow</a:t>
            </a:r>
          </a:p>
          <a:p>
            <a:r>
              <a:rPr lang="tr-TR" smtClean="0"/>
              <a:t>Github</a:t>
            </a:r>
            <a:endParaRPr lang="tr-TR" dirty="0" smtClean="0"/>
          </a:p>
        </p:txBody>
      </p:sp>
    </p:spTree>
    <p:extLst>
      <p:ext uri="{BB962C8B-B14F-4D97-AF65-F5344CB8AC3E}">
        <p14:creationId xmlns:p14="http://schemas.microsoft.com/office/powerpoint/2010/main" val="34158832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775</TotalTime>
  <Words>625</Words>
  <Application>Microsoft Office PowerPoint</Application>
  <PresentationFormat>On-screen Show (4:3)</PresentationFormat>
  <Paragraphs>52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Apex</vt:lpstr>
      <vt:lpstr>  CSCN8010 Group#4’s Final PROJECT AI-Enhanced Self-Service Portal for Student Affairs</vt:lpstr>
      <vt:lpstr>Project Purpose and Context</vt:lpstr>
      <vt:lpstr>Solution Overview &amp; System Architecture</vt:lpstr>
      <vt:lpstr>Architecture diagram (Made by AI for AI project  )</vt:lpstr>
      <vt:lpstr>Good thing is: Streamlit is included VS Code/Python by .venv and it can be run locally also.</vt:lpstr>
      <vt:lpstr>Main Tasks to Do</vt:lpstr>
      <vt:lpstr>OpenAI API KEY</vt:lpstr>
      <vt:lpstr>Main Components</vt:lpstr>
      <vt:lpstr>Main Components</vt:lpstr>
      <vt:lpstr>Main Screenshots from our project</vt:lpstr>
      <vt:lpstr>PowerPoint Presentation</vt:lpstr>
      <vt:lpstr>Knowledge Base (Data Sources)</vt:lpstr>
      <vt:lpstr>Knowledge Base (Data Sources)</vt:lpstr>
      <vt:lpstr>Sources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CSCN8010 Group#4’s Final PROJECT AI-Enhanced Self-Service Portal for Student Affairs</dc:title>
  <dc:creator>caglar</dc:creator>
  <cp:lastModifiedBy>caglar</cp:lastModifiedBy>
  <cp:revision>19</cp:revision>
  <dcterms:created xsi:type="dcterms:W3CDTF">2025-12-11T00:11:08Z</dcterms:created>
  <dcterms:modified xsi:type="dcterms:W3CDTF">2025-12-12T11:42:52Z</dcterms:modified>
</cp:coreProperties>
</file>